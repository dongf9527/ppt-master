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methodolog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methodolog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370332" y="304800"/>
            <a:ext cx="5691378" cy="556768"/>
            <a:chOff x="370332" y="304800"/>
            <a:chExt cx="5691378" cy="556768"/>
          </a:xfrm>
        </p:grpSpPr>
        <p:sp>
          <p:nvSpPr>
            <p:cNvPr id="2" name="Rectangle 2"/>
            <p:cNvSpPr/>
            <p:nvPr/>
          </p:nvSpPr>
          <p:spPr>
            <a:xfrm>
              <a:off x="381000" y="304800"/>
              <a:ext cx="419100" cy="57150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0332" y="450850"/>
              <a:ext cx="5691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德勤AI落地方法论拆解：评估、路线图、治理</a:t>
              </a:r>
            </a:p>
          </p:txBody>
        </p:sp>
      </p:grpSp>
      <p:grpSp>
        <p:nvGrpSpPr>
          <p:cNvPr id="39" name="module-evaluate"/>
          <p:cNvGrpSpPr/>
          <p:nvPr/>
        </p:nvGrpSpPr>
        <p:grpSpPr>
          <a:xfrm>
            <a:off x="381000" y="952500"/>
            <a:ext cx="2495550" cy="5324475"/>
            <a:chOff x="381000" y="952500"/>
            <a:chExt cx="2495550" cy="5324475"/>
          </a:xfrm>
        </p:grpSpPr>
        <p:grpSp>
          <p:nvGrpSpPr>
            <p:cNvPr id="8" name="module-evaluate-head"/>
            <p:cNvGrpSpPr/>
            <p:nvPr/>
          </p:nvGrpSpPr>
          <p:grpSpPr>
            <a:xfrm>
              <a:off x="381000" y="952500"/>
              <a:ext cx="2495550" cy="419100"/>
              <a:chOff x="381000" y="952500"/>
              <a:chExt cx="2495550" cy="4191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381000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3E4C66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564642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964692" y="10731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评估</a:t>
                </a:r>
              </a:p>
            </p:txBody>
          </p:sp>
        </p:grpSp>
        <p:grpSp>
          <p:nvGrpSpPr>
            <p:cNvPr id="14" name="step-evaluate-1"/>
            <p:cNvGrpSpPr/>
            <p:nvPr/>
          </p:nvGrpSpPr>
          <p:grpSpPr>
            <a:xfrm>
              <a:off x="381000" y="1466850"/>
              <a:ext cx="2495550" cy="885825"/>
              <a:chOff x="381000" y="1466850"/>
              <a:chExt cx="2495550" cy="8858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381000" y="14668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09600" y="16002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75918" y="16306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0206" y="162560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战略对齐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0588" y="1838325"/>
                <a:ext cx="1149316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结合业务战略，明确AI的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价值方向与关键问题</a:t>
                </a:r>
              </a:p>
            </p:txBody>
          </p:sp>
        </p:grpSp>
        <p:grpSp>
          <p:nvGrpSpPr>
            <p:cNvPr id="20" name="step-evaluate-2"/>
            <p:cNvGrpSpPr/>
            <p:nvPr/>
          </p:nvGrpSpPr>
          <p:grpSpPr>
            <a:xfrm>
              <a:off x="381000" y="2447925"/>
              <a:ext cx="2495550" cy="885825"/>
              <a:chOff x="381000" y="2447925"/>
              <a:chExt cx="2495550" cy="8858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81000" y="244792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09600" y="258127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75918" y="261175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0206" y="2606675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机会识别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0588" y="2819400"/>
                <a:ext cx="10509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梳理业务场景，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评估价值空间与可行性</a:t>
                </a:r>
              </a:p>
            </p:txBody>
          </p:sp>
        </p:grpSp>
        <p:grpSp>
          <p:nvGrpSpPr>
            <p:cNvPr id="26" name="step-evaluate-3"/>
            <p:cNvGrpSpPr/>
            <p:nvPr/>
          </p:nvGrpSpPr>
          <p:grpSpPr>
            <a:xfrm>
              <a:off x="381000" y="3429000"/>
              <a:ext cx="2495550" cy="885825"/>
              <a:chOff x="381000" y="3429000"/>
              <a:chExt cx="2495550" cy="8858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81000" y="342900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09600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5918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0206" y="35877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能力评估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0588" y="3813175"/>
                <a:ext cx="166535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评估数据、技术、人才与组织现状</a:t>
                </a:r>
              </a:p>
            </p:txBody>
          </p:sp>
        </p:grpSp>
        <p:grpSp>
          <p:nvGrpSpPr>
            <p:cNvPr id="32" name="step-evaluate-4"/>
            <p:cNvGrpSpPr/>
            <p:nvPr/>
          </p:nvGrpSpPr>
          <p:grpSpPr>
            <a:xfrm>
              <a:off x="381000" y="4410075"/>
              <a:ext cx="2495550" cy="885825"/>
              <a:chOff x="381000" y="4410075"/>
              <a:chExt cx="2495550" cy="8858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81000" y="441007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09600" y="454342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5918" y="457390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0206" y="4568825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风险与合规评估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0588" y="4781550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识别技术、数据、法律、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伦理等潜在风险</a:t>
                </a:r>
              </a:p>
            </p:txBody>
          </p:sp>
        </p:grpSp>
        <p:grpSp>
          <p:nvGrpSpPr>
            <p:cNvPr id="38" name="step-evaluate-5"/>
            <p:cNvGrpSpPr/>
            <p:nvPr/>
          </p:nvGrpSpPr>
          <p:grpSpPr>
            <a:xfrm>
              <a:off x="381000" y="5391150"/>
              <a:ext cx="2495550" cy="885825"/>
              <a:chOff x="381000" y="5391150"/>
              <a:chExt cx="2495550" cy="8858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381000" y="53911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609600" y="55245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5918" y="55549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0206" y="554990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优先级排序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90588" y="5762625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基于价值、可行性与风险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确定优先落地场景</a:t>
                </a:r>
              </a:p>
            </p:txBody>
          </p:sp>
        </p:grpSp>
      </p:grpSp>
      <p:grpSp>
        <p:nvGrpSpPr>
          <p:cNvPr id="74" name="module-roadmap"/>
          <p:cNvGrpSpPr/>
          <p:nvPr/>
        </p:nvGrpSpPr>
        <p:grpSpPr>
          <a:xfrm>
            <a:off x="3038475" y="952500"/>
            <a:ext cx="2495550" cy="5324475"/>
            <a:chOff x="3038475" y="952500"/>
            <a:chExt cx="2495550" cy="5324475"/>
          </a:xfrm>
        </p:grpSpPr>
        <p:grpSp>
          <p:nvGrpSpPr>
            <p:cNvPr id="43" name="module-roadmap-head"/>
            <p:cNvGrpSpPr/>
            <p:nvPr/>
          </p:nvGrpSpPr>
          <p:grpSpPr>
            <a:xfrm>
              <a:off x="3038475" y="952500"/>
              <a:ext cx="2495550" cy="419100"/>
              <a:chOff x="3038475" y="952500"/>
              <a:chExt cx="2495550" cy="4191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038475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6E714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222117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622167" y="10731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路线图</a:t>
                </a:r>
              </a:p>
            </p:txBody>
          </p:sp>
        </p:grpSp>
        <p:grpSp>
          <p:nvGrpSpPr>
            <p:cNvPr id="49" name="step-roadmap-1"/>
            <p:cNvGrpSpPr/>
            <p:nvPr/>
          </p:nvGrpSpPr>
          <p:grpSpPr>
            <a:xfrm>
              <a:off x="3038475" y="1466850"/>
              <a:ext cx="2495550" cy="885825"/>
              <a:chOff x="3038475" y="1466850"/>
              <a:chExt cx="2495550" cy="885825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038475" y="14668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3267075" y="16002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333393" y="16306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47682" y="162560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目标与愿景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48062" y="1838325"/>
                <a:ext cx="136334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明确阶段性目标与预期价值，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设定可衡量的里程碑</a:t>
                </a:r>
              </a:p>
            </p:txBody>
          </p:sp>
        </p:grpSp>
        <p:grpSp>
          <p:nvGrpSpPr>
            <p:cNvPr id="55" name="step-roadmap-2"/>
            <p:cNvGrpSpPr/>
            <p:nvPr/>
          </p:nvGrpSpPr>
          <p:grpSpPr>
            <a:xfrm>
              <a:off x="3038475" y="2447925"/>
              <a:ext cx="2495550" cy="885825"/>
              <a:chOff x="3038475" y="2447925"/>
              <a:chExt cx="2495550" cy="885825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038475" y="244792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267075" y="258127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333393" y="261175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547682" y="2606675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场景与用例规划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548062" y="2819400"/>
                <a:ext cx="94678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选择高价值场景，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设计试点与推广路径</a:t>
                </a:r>
              </a:p>
            </p:txBody>
          </p:sp>
        </p:grpSp>
        <p:grpSp>
          <p:nvGrpSpPr>
            <p:cNvPr id="61" name="step-roadmap-3"/>
            <p:cNvGrpSpPr/>
            <p:nvPr/>
          </p:nvGrpSpPr>
          <p:grpSpPr>
            <a:xfrm>
              <a:off x="3038475" y="3429000"/>
              <a:ext cx="2495550" cy="885825"/>
              <a:chOff x="3038475" y="3429000"/>
              <a:chExt cx="2495550" cy="885825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3038475" y="342900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267075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3333393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547682" y="358775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实施路径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548062" y="3800475"/>
                <a:ext cx="15716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制定从试点到规模化的阶段计划，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明确关键任务与依赖关系</a:t>
                </a:r>
              </a:p>
            </p:txBody>
          </p:sp>
        </p:grpSp>
        <p:grpSp>
          <p:nvGrpSpPr>
            <p:cNvPr id="67" name="step-roadmap-4"/>
            <p:cNvGrpSpPr/>
            <p:nvPr/>
          </p:nvGrpSpPr>
          <p:grpSpPr>
            <a:xfrm>
              <a:off x="3038475" y="4410075"/>
              <a:ext cx="2495550" cy="885825"/>
              <a:chOff x="3038475" y="4410075"/>
              <a:chExt cx="2495550" cy="885825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3038475" y="441007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3267075" y="454342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3333393" y="457390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547682" y="4568825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资源与能力建设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548062" y="4781550"/>
                <a:ext cx="136334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规划数据、技术、人才与生态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合作的纳入与建设</a:t>
                </a:r>
              </a:p>
            </p:txBody>
          </p:sp>
        </p:grpSp>
        <p:grpSp>
          <p:nvGrpSpPr>
            <p:cNvPr id="73" name="step-roadmap-5"/>
            <p:cNvGrpSpPr/>
            <p:nvPr/>
          </p:nvGrpSpPr>
          <p:grpSpPr>
            <a:xfrm>
              <a:off x="3038475" y="5391150"/>
              <a:ext cx="2495550" cy="885825"/>
              <a:chOff x="3038475" y="5391150"/>
              <a:chExt cx="2495550" cy="885825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3038475" y="53911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3267075" y="55245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3333393" y="55549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547682" y="554990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价值衡量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548062" y="5762625"/>
                <a:ext cx="94678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建立量化指标体系，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跟踪进展并持续优化</a:t>
                </a:r>
              </a:p>
            </p:txBody>
          </p:sp>
        </p:grpSp>
      </p:grpSp>
      <p:grpSp>
        <p:nvGrpSpPr>
          <p:cNvPr id="109" name="module-governance"/>
          <p:cNvGrpSpPr/>
          <p:nvPr/>
        </p:nvGrpSpPr>
        <p:grpSpPr>
          <a:xfrm>
            <a:off x="5695950" y="952500"/>
            <a:ext cx="2495550" cy="5324475"/>
            <a:chOff x="5695950" y="952500"/>
            <a:chExt cx="2495550" cy="5324475"/>
          </a:xfrm>
        </p:grpSpPr>
        <p:grpSp>
          <p:nvGrpSpPr>
            <p:cNvPr id="78" name="module-governance-head"/>
            <p:cNvGrpSpPr/>
            <p:nvPr/>
          </p:nvGrpSpPr>
          <p:grpSpPr>
            <a:xfrm>
              <a:off x="5695950" y="952500"/>
              <a:ext cx="2495550" cy="419100"/>
              <a:chOff x="5695950" y="952500"/>
              <a:chExt cx="2495550" cy="4191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5695950" y="952500"/>
                <a:ext cx="2495550" cy="419100"/>
              </a:xfrm>
              <a:prstGeom prst="roundRect">
                <a:avLst>
                  <a:gd name="adj" fmla="val 20455"/>
                </a:avLst>
              </a:prstGeom>
              <a:solidFill>
                <a:srgbClr val="7A6376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879592" y="1073150"/>
                <a:ext cx="215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279642" y="10731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治理</a:t>
                </a:r>
              </a:p>
            </p:txBody>
          </p:sp>
        </p:grpSp>
        <p:grpSp>
          <p:nvGrpSpPr>
            <p:cNvPr id="84" name="step-governance-1"/>
            <p:cNvGrpSpPr/>
            <p:nvPr/>
          </p:nvGrpSpPr>
          <p:grpSpPr>
            <a:xfrm>
              <a:off x="5695950" y="1466850"/>
              <a:ext cx="2495550" cy="885825"/>
              <a:chOff x="5695950" y="1466850"/>
              <a:chExt cx="2495550" cy="885825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5695950" y="14668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5924550" y="16002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5990868" y="16306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205156" y="1625600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治理框架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205538" y="1851025"/>
                <a:ext cx="177573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明确治理原则、组织架构与决策机制</a:t>
                </a:r>
              </a:p>
            </p:txBody>
          </p:sp>
        </p:grpSp>
        <p:grpSp>
          <p:nvGrpSpPr>
            <p:cNvPr id="90" name="step-governance-2"/>
            <p:cNvGrpSpPr/>
            <p:nvPr/>
          </p:nvGrpSpPr>
          <p:grpSpPr>
            <a:xfrm>
              <a:off x="5695950" y="2447925"/>
              <a:ext cx="2495550" cy="885825"/>
              <a:chOff x="5695950" y="2447925"/>
              <a:chExt cx="2495550" cy="885825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5695950" y="244792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5924550" y="258127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5990868" y="261175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205156" y="2606675"/>
                <a:ext cx="55415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风险管理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205538" y="2819400"/>
                <a:ext cx="125920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覆盖数据安全、模型风险、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合规与伦理</a:t>
                </a:r>
              </a:p>
            </p:txBody>
          </p:sp>
        </p:grpSp>
        <p:grpSp>
          <p:nvGrpSpPr>
            <p:cNvPr id="96" name="step-governance-3"/>
            <p:cNvGrpSpPr/>
            <p:nvPr/>
          </p:nvGrpSpPr>
          <p:grpSpPr>
            <a:xfrm>
              <a:off x="5695950" y="3429000"/>
              <a:ext cx="2495550" cy="885825"/>
              <a:chOff x="5695950" y="3429000"/>
              <a:chExt cx="2495550" cy="885825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5695950" y="342900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5924550" y="356235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5990868" y="359283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6205156" y="358775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政策与标准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6205538" y="3813175"/>
                <a:ext cx="166516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制定AI相关政策、流程与技术标准</a:t>
                </a:r>
              </a:p>
            </p:txBody>
          </p:sp>
        </p:grpSp>
        <p:grpSp>
          <p:nvGrpSpPr>
            <p:cNvPr id="102" name="step-governance-4"/>
            <p:cNvGrpSpPr/>
            <p:nvPr/>
          </p:nvGrpSpPr>
          <p:grpSpPr>
            <a:xfrm>
              <a:off x="5695950" y="4410075"/>
              <a:ext cx="2495550" cy="885825"/>
              <a:chOff x="5695950" y="4410075"/>
              <a:chExt cx="2495550" cy="88582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5695950" y="4410075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5924550" y="4543425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5990868" y="4573905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6205156" y="4568825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监控与审计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6205538" y="4781550"/>
                <a:ext cx="105092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建立全生命周期监控、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审计与问责机制</a:t>
                </a:r>
              </a:p>
            </p:txBody>
          </p:sp>
        </p:grpSp>
        <p:grpSp>
          <p:nvGrpSpPr>
            <p:cNvPr id="108" name="step-governance-5"/>
            <p:cNvGrpSpPr/>
            <p:nvPr/>
          </p:nvGrpSpPr>
          <p:grpSpPr>
            <a:xfrm>
              <a:off x="5695950" y="5391150"/>
              <a:ext cx="2495550" cy="885825"/>
              <a:chOff x="5695950" y="5391150"/>
              <a:chExt cx="2495550" cy="885825"/>
            </a:xfrm>
          </p:grpSpPr>
          <p:sp>
            <p:nvSpPr>
              <p:cNvPr id="103" name="Rectangle 103"/>
              <p:cNvSpPr/>
              <p:nvPr/>
            </p:nvSpPr>
            <p:spPr>
              <a:xfrm>
                <a:off x="5695950" y="5391150"/>
                <a:ext cx="2495550" cy="885825"/>
              </a:xfrm>
              <a:prstGeom prst="roundRect">
                <a:avLst>
                  <a:gd name="adj" fmla="val 8602"/>
                </a:avLst>
              </a:prstGeom>
              <a:solidFill>
                <a:srgbClr val="F5F6F5"/>
              </a:solidFill>
              <a:ln>
                <a:noFill/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5924550" y="5524500"/>
                <a:ext cx="209550" cy="20955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5990868" y="5554980"/>
                <a:ext cx="769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6205156" y="5549900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文化与人才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6205538" y="5762625"/>
                <a:ext cx="1155065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00"/>
                  </a:lnSpc>
                </a:pP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推动负责任的AI文化，</a:t>
                </a:r>
                <a:b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82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提升员工意识与专业能力</a:t>
                </a:r>
              </a:p>
            </p:txBody>
          </p:sp>
        </p:grpSp>
      </p:grpSp>
      <p:grpSp>
        <p:nvGrpSpPr>
          <p:cNvPr id="142" name="arch-diagram"/>
          <p:cNvGrpSpPr/>
          <p:nvPr/>
        </p:nvGrpSpPr>
        <p:grpSpPr>
          <a:xfrm>
            <a:off x="8382000" y="952500"/>
            <a:ext cx="3429000" cy="5334000"/>
            <a:chOff x="8382000" y="952500"/>
            <a:chExt cx="3429000" cy="5334000"/>
          </a:xfrm>
        </p:grpSpPr>
        <p:sp>
          <p:nvSpPr>
            <p:cNvPr id="110" name="Rectangle 110"/>
            <p:cNvSpPr/>
            <p:nvPr/>
          </p:nvSpPr>
          <p:spPr>
            <a:xfrm>
              <a:off x="8382000" y="952500"/>
              <a:ext cx="3429000" cy="5334000"/>
            </a:xfrm>
            <a:prstGeom prst="roundRect">
              <a:avLst>
                <a:gd name="adj" fmla="val 3333"/>
              </a:avLst>
            </a:prstGeom>
            <a:solidFill>
              <a:srgbClr val="F5F6F5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713043" y="1120775"/>
              <a:ext cx="766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AI 技术架构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9829800" y="1323975"/>
              <a:ext cx="533400" cy="28575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</p:sp>
        <p:grpSp>
          <p:nvGrpSpPr>
            <p:cNvPr id="117" name="arch-layer-value"/>
            <p:cNvGrpSpPr/>
            <p:nvPr/>
          </p:nvGrpSpPr>
          <p:grpSpPr>
            <a:xfrm>
              <a:off x="9096375" y="1447800"/>
              <a:ext cx="2000250" cy="666750"/>
              <a:chOff x="9096375" y="1447800"/>
              <a:chExt cx="2000250" cy="66675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9096375" y="144780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9153525" y="1600200"/>
                <a:ext cx="38100" cy="361950"/>
              </a:xfrm>
              <a:prstGeom prst="rect">
                <a:avLst/>
              </a:prstGeom>
              <a:solidFill>
                <a:srgbClr val="86BC25"/>
              </a:solidFill>
              <a:ln>
                <a:noFill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9281922" y="1590675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业务价值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9282112" y="17653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  <a:t>效率提升｜创新增长</a:t>
                </a:r>
                <a:b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C9CDC4"/>
                    </a:solidFill>
                    <a:latin typeface="+mn-lt"/>
                    <a:ea typeface="+mn-ea"/>
                    <a:cs typeface="+mn-cs"/>
                  </a:rPr>
                  <a:t>客户体验｜社会价值</a:t>
                </a:r>
              </a:p>
            </p:txBody>
          </p:sp>
        </p:grpSp>
        <p:grpSp>
          <p:nvGrpSpPr>
            <p:cNvPr id="121" name="arch-layer-app"/>
            <p:cNvGrpSpPr/>
            <p:nvPr/>
          </p:nvGrpSpPr>
          <p:grpSpPr>
            <a:xfrm>
              <a:off x="9096375" y="2219325"/>
              <a:ext cx="2000250" cy="666750"/>
              <a:chOff x="9096375" y="2219325"/>
              <a:chExt cx="2000250" cy="666750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9096375" y="2219325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9281922" y="2362200"/>
                <a:ext cx="40568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应用层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9282112" y="2606675"/>
                <a:ext cx="1347648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业务场景｜智能体｜产品与服务</a:t>
                </a:r>
              </a:p>
            </p:txBody>
          </p:sp>
        </p:grpSp>
        <p:grpSp>
          <p:nvGrpSpPr>
            <p:cNvPr id="125" name="arch-layer-model"/>
            <p:cNvGrpSpPr/>
            <p:nvPr/>
          </p:nvGrpSpPr>
          <p:grpSpPr>
            <a:xfrm>
              <a:off x="9096375" y="2990850"/>
              <a:ext cx="2000250" cy="666750"/>
              <a:chOff x="9096375" y="2990850"/>
              <a:chExt cx="2000250" cy="666750"/>
            </a:xfrm>
          </p:grpSpPr>
          <p:sp>
            <p:nvSpPr>
              <p:cNvPr id="122" name="Rectangle 122"/>
              <p:cNvSpPr/>
              <p:nvPr/>
            </p:nvSpPr>
            <p:spPr>
              <a:xfrm>
                <a:off x="9096375" y="299085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9281922" y="3133725"/>
                <a:ext cx="8014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模型与技术层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9282112" y="3378200"/>
                <a:ext cx="1666185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基础模型｜行业模型｜工具链｜MLOps</a:t>
                </a:r>
              </a:p>
            </p:txBody>
          </p:sp>
        </p:grpSp>
        <p:grpSp>
          <p:nvGrpSpPr>
            <p:cNvPr id="129" name="arch-layer-data"/>
            <p:cNvGrpSpPr/>
            <p:nvPr/>
          </p:nvGrpSpPr>
          <p:grpSpPr>
            <a:xfrm>
              <a:off x="9096375" y="3762375"/>
              <a:ext cx="2000250" cy="666750"/>
              <a:chOff x="9096375" y="3762375"/>
              <a:chExt cx="2000250" cy="666750"/>
            </a:xfrm>
          </p:grpSpPr>
          <p:sp>
            <p:nvSpPr>
              <p:cNvPr id="126" name="Rectangle 126"/>
              <p:cNvSpPr/>
              <p:nvPr/>
            </p:nvSpPr>
            <p:spPr>
              <a:xfrm>
                <a:off x="9096375" y="3762375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9281922" y="3905250"/>
                <a:ext cx="40568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数据层</a:t>
                </a:r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9282112" y="4079875"/>
                <a:ext cx="91122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数据治理｜数据安全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数据资产｜高质量数据</a:t>
                </a:r>
              </a:p>
            </p:txBody>
          </p:sp>
        </p:grpSp>
        <p:grpSp>
          <p:nvGrpSpPr>
            <p:cNvPr id="133" name="arch-layer-cloud"/>
            <p:cNvGrpSpPr/>
            <p:nvPr/>
          </p:nvGrpSpPr>
          <p:grpSpPr>
            <a:xfrm>
              <a:off x="9096375" y="4533900"/>
              <a:ext cx="2000250" cy="666750"/>
              <a:chOff x="9096375" y="4533900"/>
              <a:chExt cx="2000250" cy="666750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9096375" y="4533900"/>
                <a:ext cx="2000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9281922" y="4676775"/>
                <a:ext cx="8014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云与基础设施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9282112" y="4921250"/>
                <a:ext cx="774167" cy="140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算力｜存储｜平台</a:t>
                </a:r>
              </a:p>
            </p:txBody>
          </p:sp>
        </p:grpSp>
        <p:grpSp>
          <p:nvGrpSpPr>
            <p:cNvPr id="137" name="arch-pillar-talent"/>
            <p:cNvGrpSpPr/>
            <p:nvPr/>
          </p:nvGrpSpPr>
          <p:grpSpPr>
            <a:xfrm>
              <a:off x="8496300" y="5314950"/>
              <a:ext cx="1562100" cy="781050"/>
              <a:chOff x="8496300" y="5314950"/>
              <a:chExt cx="1562100" cy="781050"/>
            </a:xfrm>
          </p:grpSpPr>
          <p:sp>
            <p:nvSpPr>
              <p:cNvPr id="134" name="Rectangle 134"/>
              <p:cNvSpPr/>
              <p:nvPr/>
            </p:nvSpPr>
            <p:spPr>
              <a:xfrm>
                <a:off x="8496300" y="5314950"/>
                <a:ext cx="15621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8624888" y="5429250"/>
                <a:ext cx="642239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组织与人才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8624888" y="56515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组织架构｜人才能力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文化变革</a:t>
                </a:r>
              </a:p>
            </p:txBody>
          </p:sp>
        </p:grpSp>
        <p:grpSp>
          <p:nvGrpSpPr>
            <p:cNvPr id="141" name="arch-pillar-compliance"/>
            <p:cNvGrpSpPr/>
            <p:nvPr/>
          </p:nvGrpSpPr>
          <p:grpSpPr>
            <a:xfrm>
              <a:off x="10134600" y="5314950"/>
              <a:ext cx="1562100" cy="781050"/>
              <a:chOff x="10134600" y="5314950"/>
              <a:chExt cx="1562100" cy="781050"/>
            </a:xfrm>
          </p:grpSpPr>
          <p:sp>
            <p:nvSpPr>
              <p:cNvPr id="138" name="Rectangle 138"/>
              <p:cNvSpPr/>
              <p:nvPr/>
            </p:nvSpPr>
            <p:spPr>
              <a:xfrm>
                <a:off x="10134600" y="5314950"/>
                <a:ext cx="15621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9525">
                <a:solidFill>
                  <a:srgbClr val="DBDEDB"/>
                </a:solidFill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10263188" y="5429250"/>
                <a:ext cx="642239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b="1" dirty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rPr>
                  <a:t>治用与合规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10263188" y="5651500"/>
                <a:ext cx="821055" cy="273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050"/>
                  </a:lnSpc>
                </a:pP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政策标准｜风险管理</a:t>
                </a:r>
                <a:b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710" dirty="0">
                    <a:solidFill>
                      <a:srgbClr val="63666A"/>
                    </a:solidFill>
                    <a:latin typeface="+mn-lt"/>
                    <a:ea typeface="+mn-ea"/>
                    <a:cs typeface="+mn-cs"/>
                  </a:rPr>
                  <a:t>监控审计｜伦理责任</a:t>
                </a:r>
              </a:p>
            </p:txBody>
          </p:sp>
        </p:grpSp>
      </p:grpSp>
      <p:grpSp>
        <p:nvGrpSpPr>
          <p:cNvPr id="146" name="page-footer"/>
          <p:cNvGrpSpPr/>
          <p:nvPr/>
        </p:nvGrpSpPr>
        <p:grpSpPr>
          <a:xfrm>
            <a:off x="381000" y="6557962"/>
            <a:ext cx="11430000" cy="255588"/>
            <a:chOff x="381000" y="6557962"/>
            <a:chExt cx="11430000" cy="255588"/>
          </a:xfrm>
        </p:grpSpPr>
        <p:sp>
          <p:nvSpPr>
            <p:cNvPr id="143" name="Line 143"/>
            <p:cNvSpPr/>
            <p:nvPr/>
          </p:nvSpPr>
          <p:spPr>
            <a:xfrm>
              <a:off x="381000" y="6557962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BDEDB"/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381000" y="6657975"/>
              <a:ext cx="38100" cy="114300"/>
            </a:xfrm>
            <a:prstGeom prst="rect">
              <a:avLst/>
            </a:prstGeom>
            <a:solidFill>
              <a:srgbClr val="86BC25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509588" y="6651625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3666A"/>
                  </a:solidFill>
                  <a:latin typeface="+mn-lt"/>
                  <a:ea typeface="+mn-ea"/>
                  <a:cs typeface="+mn-cs"/>
                </a:rPr>
                <a:t>基于德勤公开资料的独立研究。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_methodology">
  <a:themeElements>
    <a:clrScheme name="ai_methodolog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_methodolog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methodolo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2026-10-26T05:33:58Z</dcterms:created>
  <dcterms:modified xsi:type="dcterms:W3CDTF">2026-10-26T05:33:58Z</dcterms:modified>
  <cp:category/>
  <cp:contentStatus/>
</cp:coreProperties>
</file>